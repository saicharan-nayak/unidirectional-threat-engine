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40080"/>
            <a:ext cx="3108960" cy="320040"/>
          </a:xfrm>
          <a:prstGeom prst="roundRect">
            <a:avLst/>
          </a:prstGeom>
          <a:solidFill>
            <a:srgbClr val="111827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AIR-GAPPED DATA DIODE ENCLAVE v2.4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3F4F6"/>
                </a:solidFill>
              </a:defRPr>
            </a:pPr>
            <a:r>
              <a:t>CYBERSHIELD</a:t>
            </a:r>
          </a:p>
          <a:p>
            <a:pPr>
              <a:defRPr sz="1800" b="1">
                <a:solidFill>
                  <a:srgbClr val="00E5FF"/>
                </a:solidFill>
              </a:defRPr>
            </a:pPr>
            <a:r>
              <a:t>Unidirectional Threat Detection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High-performance passive cyber threat attribution operating over physical data diodes at 50,000+ packets/sec. Engineered with 16-shard zero-contention partitioning, statistical AI anomaly detection, and automated containment.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731520"/>
            <a:ext cx="5239512" cy="31089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itre_cyber_cen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804672"/>
            <a:ext cx="5093208" cy="2788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3547872"/>
            <a:ext cx="52395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0E5FF"/>
                </a:solidFill>
              </a:defRPr>
            </a:pPr>
            <a:r>
              <a:t>3D HOLOGRAPHIC CYBER DEFENSE OPERATIONS COMMAND ENCLAVE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2542032" cy="2377440"/>
          </a:xfrm>
          <a:prstGeom prst="roundRect">
            <a:avLst/>
          </a:prstGeom>
          <a:solidFill>
            <a:srgbClr val="172135"/>
          </a:solidFill>
          <a:ln w="15240">
            <a:solidFill>
              <a:srgbClr val="25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411480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E5FF"/>
                </a:solidFill>
              </a:defRPr>
            </a:pPr>
            <a:r>
              <a:t>OPTICAL DIODE ISOLATION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Physical Tx severed (Rx = 1)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Mathematical stealth guarantee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Zero backchannel exploitation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Air-gapped boundary defense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4023360"/>
            <a:ext cx="2542032" cy="2377440"/>
          </a:xfrm>
          <a:prstGeom prst="roundRect">
            <a:avLst/>
          </a:prstGeom>
          <a:solidFill>
            <a:srgbClr val="172135"/>
          </a:solidFill>
          <a:ln w="15240">
            <a:solidFill>
              <a:srgbClr val="25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5304" y="411480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3B82F6"/>
                </a:solidFill>
              </a:defRPr>
            </a:pPr>
            <a:r>
              <a:t>16-SHARD INGRESS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50,000+ pps sustained ingress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Lock-free micro-batch routing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Zero-allocation __slots__ model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Sub-110ms sliding window SLA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4023360"/>
            <a:ext cx="2542032" cy="2377440"/>
          </a:xfrm>
          <a:prstGeom prst="roundRect">
            <a:avLst/>
          </a:prstGeom>
          <a:solidFill>
            <a:srgbClr val="172135"/>
          </a:solidFill>
          <a:ln w="15240">
            <a:solidFill>
              <a:srgbClr val="25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411480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59E0B"/>
                </a:solidFill>
              </a:defRPr>
            </a:pPr>
            <a:r>
              <a:t>AUTONOMOUS AI &amp; MITRE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14 enterprise tactics mapped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C2 beacon detection (CV &lt; 0.15)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Fast Shannon entropy (&gt;3.65)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Dynamic multi-firewall synthesis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78824" y="4023360"/>
            <a:ext cx="2542032" cy="2377440"/>
          </a:xfrm>
          <a:prstGeom prst="roundRect">
            <a:avLst/>
          </a:prstGeom>
          <a:solidFill>
            <a:srgbClr val="172135"/>
          </a:solidFill>
          <a:ln w="15240">
            <a:solidFill>
              <a:srgbClr val="25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411480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CROSS-PLATFORM SOC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Real-time WebSocket stream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Live Cloudflare HTTPS tunnel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Permanent 24/7 GitHub Pages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Native Android Studio WebView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CORE ARCHITECTURE &amp; INGESTION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3F4F6"/>
                </a:solidFill>
              </a:defRPr>
            </a:pPr>
            <a:r>
              <a:t>16-Shard Hash Partitioning &amp; High-Throughput Stream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CA3AF"/>
                </a:solidFill>
              </a:defRPr>
            </a:pPr>
            <a:r>
              <a:t>Hardware optical diode isolation feeding micro-batched, lock-partitioned analytical queues.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011680" cy="1143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1. PHYSICAL INGRESS</a:t>
            </a:r>
          </a:p>
          <a:p>
            <a:pPr algn="ctr">
              <a:defRPr sz="900">
                <a:solidFill>
                  <a:srgbClr val="F3F4F6"/>
                </a:solidFill>
              </a:defRPr>
            </a:pPr>
            <a:r>
              <a:t>Mirror TAP / SPAN</a:t>
            </a:r>
            <a:br/>
            <a:r>
              <a:t>Optical Diode Rx</a:t>
            </a:r>
            <a:br/>
            <a:r>
              <a:t>Tx = 0 Physical Cut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79776" y="1947672"/>
            <a:ext cx="109728" cy="201168"/>
          </a:xfrm>
          <a:prstGeom prst="rightArrow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1508760"/>
            <a:ext cx="2011680" cy="1143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2. BINARY PARSER</a:t>
            </a:r>
          </a:p>
          <a:p>
            <a:pPr algn="ctr">
              <a:defRPr sz="900">
                <a:solidFill>
                  <a:srgbClr val="F3F4F6"/>
                </a:solidFill>
              </a:defRPr>
            </a:pPr>
            <a:r>
              <a:t>Zero-Copy PCAP Unpack</a:t>
            </a:r>
            <a:br/>
            <a:r>
              <a:t>IPv4 / IPv6 Wire Decode</a:t>
            </a:r>
            <a:br/>
            <a:r>
              <a:t>TCP Flags &amp; Raw UDP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74336" y="1947672"/>
            <a:ext cx="109728" cy="201168"/>
          </a:xfrm>
          <a:prstGeom prst="rightArrow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0" y="1508760"/>
            <a:ext cx="2011680" cy="1143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3. MICRO-BATCHER</a:t>
            </a:r>
          </a:p>
          <a:p>
            <a:pPr algn="ctr">
              <a:defRPr sz="900">
                <a:solidFill>
                  <a:srgbClr val="F3F4F6"/>
                </a:solidFill>
              </a:defRPr>
            </a:pPr>
            <a:r>
              <a:t>Batch Size: 250 pkts</a:t>
            </a:r>
            <a:br/>
            <a:r>
              <a:t>Hash Routing Function:</a:t>
            </a:r>
            <a:br/>
            <a:r>
              <a:t>(hash(src) &amp; 0x7F) % 16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68896" y="1947672"/>
            <a:ext cx="109728" cy="201168"/>
          </a:xfrm>
          <a:prstGeom prst="rightArrow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0" y="1508760"/>
            <a:ext cx="2011680" cy="1143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4. 16 SHARD CORES</a:t>
            </a:r>
          </a:p>
          <a:p>
            <a:pPr algn="ctr">
              <a:defRPr sz="900">
                <a:solidFill>
                  <a:srgbClr val="F3F4F6"/>
                </a:solidFill>
              </a:defRPr>
            </a:pPr>
            <a:r>
              <a:t>16 Independent Locks</a:t>
            </a:r>
            <a:br/>
            <a:r>
              <a:t>Ring Buffers (maxlen=250)</a:t>
            </a:r>
            <a:br/>
            <a:r>
              <a:t>Zero Global Contention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63456" y="1947672"/>
            <a:ext cx="109728" cy="201168"/>
          </a:xfrm>
          <a:prstGeom prst="rightArrow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09760" y="1508760"/>
            <a:ext cx="2011680" cy="1143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5. ROLLING PRUNER</a:t>
            </a:r>
          </a:p>
          <a:p>
            <a:pPr algn="ctr">
              <a:defRPr sz="900">
                <a:solidFill>
                  <a:srgbClr val="F3F4F6"/>
                </a:solidFill>
              </a:defRPr>
            </a:pPr>
            <a:r>
              <a:t>3.0s Sliding Window</a:t>
            </a:r>
            <a:br/>
            <a:r>
              <a:t>O(1) Popleft Eviction</a:t>
            </a:r>
            <a:br/>
            <a:r>
              <a:t>Sub-110ms Triage SLA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5230368" cy="35661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ta_diode_hardw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907792"/>
            <a:ext cx="5084064" cy="32461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" y="6108192"/>
            <a:ext cx="5230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0E5FF"/>
                </a:solidFill>
              </a:defRPr>
            </a:pPr>
            <a:r>
              <a:t>PHYSICAL OPTICAL DATA DIODE NETWORK TAP (TX SEVERED / RX LISTEN-ONLY)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834640"/>
            <a:ext cx="5239512" cy="1691640"/>
          </a:xfrm>
          <a:prstGeom prst="roundRect">
            <a:avLst/>
          </a:prstGeom>
          <a:solidFill>
            <a:srgbClr val="172135"/>
          </a:solidFill>
          <a:ln w="15240">
            <a:solidFill>
              <a:srgbClr val="25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2926080"/>
            <a:ext cx="4983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E5FF"/>
                </a:solidFill>
              </a:defRPr>
            </a:pPr>
            <a:r>
              <a:t>ZERO-CONTENTION CONCURRENCY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Lock Partitioning: Divides state into 16 discrete EnclaveShard instances.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Lock Amortization: Groups micro-batches by target shard prior to lock acquisition.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Throughput: Sustained 25,000–50,000+ pps on commodity CPU cores without frame drops.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709160"/>
            <a:ext cx="5239512" cy="1691640"/>
          </a:xfrm>
          <a:prstGeom prst="roundRect">
            <a:avLst/>
          </a:prstGeom>
          <a:solidFill>
            <a:srgbClr val="172135"/>
          </a:solidFill>
          <a:ln w="15240">
            <a:solidFill>
              <a:srgbClr val="25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4800600"/>
            <a:ext cx="4983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LOW-ALLOCATION MEMORY &amp; STEALTH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Python __slots__ Optimization: Eliminates dynamic dictionary allocation overhead.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Bounded Ring Buffers: In-memory sliding windows prevent memory leaks under surges.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Passive Stealth: Zero TCP RST or ICMP packets emitted back onto monitored wire.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ANALYTICAL CORE &amp; MATHEMATICAL FORMULATIONS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3F4F6"/>
                </a:solidFill>
              </a:defRPr>
            </a:pPr>
            <a:r>
              <a:t>Mathematical Threat Detection: AI/ML, Entropy &amp; JA4 Fingerprinting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CA3AF"/>
                </a:solidFill>
              </a:defRPr>
            </a:pPr>
            <a:r>
              <a:t>Deterministic models operating concurrently across sliding windows for precision threat attribution.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30368" cy="2423160"/>
          </a:xfrm>
          <a:prstGeom prst="roundRect">
            <a:avLst/>
          </a:prstGeom>
          <a:solidFill>
            <a:srgbClr val="172135"/>
          </a:solidFill>
          <a:ln w="15240">
            <a:solidFill>
              <a:srgbClr val="25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600200"/>
            <a:ext cx="4974336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59E0B"/>
                </a:solidFill>
              </a:defRPr>
            </a:pPr>
            <a:r>
              <a:t>1. BOTNET C2 BEACONING (IAT &amp; CV)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Theory: Automated implants maintain rhythmic callbacks; human traffic is chaotic.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Formula: CV = σ / μ  (where μ = mean interval, σ = standard deviation of deltas).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Detection Boundary: CV &lt; 0.15 identifies automated heartbeat periodicity.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Confidence Model: Score = min(0.99, 1.0 - CV).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69080"/>
            <a:ext cx="5230368" cy="2423160"/>
          </a:xfrm>
          <a:prstGeom prst="roundRect">
            <a:avLst/>
          </a:prstGeom>
          <a:solidFill>
            <a:srgbClr val="172135"/>
          </a:solidFill>
          <a:ln w="15240">
            <a:solidFill>
              <a:srgbClr val="25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4160520"/>
            <a:ext cx="4974336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4757"/>
                </a:solidFill>
              </a:defRPr>
            </a:pPr>
            <a:r>
              <a:t>2. DNS TUNNELING &amp; DGA (FAST SHANNON ENTROPY)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Theory: Base32/64 exfiltration payloads pack high information density into subdomains.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Formula: H(X) = log2(L) - (1/L) * Σ count(c) * log2(count(c)).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Table Cache: Accelerated via pre-computed _LOG2_CACHE[k] lookup table in O(N).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Boundary: H(X) &gt; 3.65 indicates encoded data tunneling or DGA rendezvous.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39512" cy="30175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cket_dis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581912"/>
            <a:ext cx="5093208" cy="2697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4233672"/>
            <a:ext cx="52395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0E5FF"/>
                </a:solidFill>
              </a:defRPr>
            </a:pPr>
            <a:r>
              <a:t>LIVE DEEP PACKET DISSECTOR (WIRESHARK-STYLE PROTOCOL BREAKDOWN)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663440"/>
            <a:ext cx="5239512" cy="1828800"/>
          </a:xfrm>
          <a:prstGeom prst="roundRect">
            <a:avLst/>
          </a:prstGeom>
          <a:solidFill>
            <a:srgbClr val="172135"/>
          </a:solidFill>
          <a:ln w="15240">
            <a:solidFill>
              <a:srgbClr val="25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4754880"/>
            <a:ext cx="4983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E5FF"/>
                </a:solidFill>
              </a:defRPr>
            </a:pPr>
            <a:r>
              <a:t>3. JA4 TLS FINGERPRINTING &amp; VOLUMETRIC SYN FLOOD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JA4 RFC 8701: Strips GREASE ciphers; SHA-256 hashes of sorted ciphers and extensions.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Signature Match: Identifies Cobalt Strike Malleable C2 profile over encrypted TLS.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Volumetric SYN Flood: &gt;75% SYN ratio in rolling window triggers P0 mitigation.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AUTONOMOUS AI SECURITY &amp; CONTAINMENT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3F4F6"/>
                </a:solidFill>
              </a:defRPr>
            </a:pPr>
            <a:r>
              <a:t>MITRE ATT&amp;CK Enterprise Matrix &amp; Automated Firewall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CA3AF"/>
                </a:solidFill>
              </a:defRPr>
            </a:pPr>
            <a:r>
              <a:t>Deterministic correlation, blast radius modeling, and instant multi-platform rule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30368" cy="3154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itr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581912"/>
            <a:ext cx="5084064" cy="2834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370832"/>
            <a:ext cx="5230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0E5FF"/>
                </a:solidFill>
              </a:defRPr>
            </a:pPr>
            <a:r>
              <a:t>VERIFIED MITRE ATT&amp;CK ENTERPRISE MATRIX (14 ACTIVE TACTICS)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00600"/>
            <a:ext cx="5230368" cy="1691640"/>
          </a:xfrm>
          <a:prstGeom prst="roundRect">
            <a:avLst/>
          </a:prstGeom>
          <a:solidFill>
            <a:srgbClr val="172135"/>
          </a:solidFill>
          <a:ln w="15240">
            <a:solidFill>
              <a:srgbClr val="25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4892040"/>
            <a:ext cx="497433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59E0B"/>
                </a:solidFill>
              </a:defRPr>
            </a:pPr>
            <a:r>
              <a:t>BLAST RADIUS &amp; MERKLE AUDIT LEDGER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Topology-Aware Risk: Evaluates exposure across Domain Controllers and DBs.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Merkle Hash-Chaining: Sequential SHA-256 ledger guarantees immutable audit trail.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LLM Triage Hook: Optional Gemini API integration for semantic incident reporting.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239512" cy="3154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itigation_ru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581912"/>
            <a:ext cx="5093208" cy="2834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4370832"/>
            <a:ext cx="52395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0E5FF"/>
                </a:solidFill>
              </a:defRPr>
            </a:pPr>
            <a:r>
              <a:t>LIVE DYNAMIC FIREWALL &amp; IDS RULE SYNTHESIZER (5 FORMATS)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800600"/>
            <a:ext cx="5239512" cy="1691640"/>
          </a:xfrm>
          <a:prstGeom prst="roundRect">
            <a:avLst/>
          </a:prstGeom>
          <a:solidFill>
            <a:srgbClr val="172135"/>
          </a:solidFill>
          <a:ln w="15240">
            <a:solidFill>
              <a:srgbClr val="25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4892040"/>
            <a:ext cx="4983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AUTOMATED RULE SYNTHESIS EXPORTS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Linux IPTables: iptables -A INPUT -p tcp --dport 443 -m hashlimit --hashlimit-above 50/sec -j DROP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Linux NFTables: table inet filter { chain input { tcp flags syn meter ... drop } }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Suricata / Snort IDS: alert tcp any any -&gt; $DST $PORT (msg:"CYBERSHIELD Flood"; sid:2000001;)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ENTERPRISE OPERATIONS &amp; GLOBAL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3F4F6"/>
                </a:solidFill>
              </a:defRPr>
            </a:pPr>
            <a:r>
              <a:t>Web SOC Operations Console &amp; Multi-Platform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CA3AF"/>
                </a:solidFill>
              </a:defRPr>
            </a:pPr>
            <a:r>
              <a:t>Accessible globally over HTTPS, permanent edge hosting, and native Android Studio integration.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6035040" cy="49834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oc_dashboard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581912"/>
            <a:ext cx="5888736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199632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0E5FF"/>
                </a:solidFill>
              </a:defRPr>
            </a:pPr>
            <a:r>
              <a:t>LIVE OPERATIONS CONSOLE: OPTICAL THREAT RADAR, INGEST METRICS &amp; AUTHENTIC STREAM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508760"/>
            <a:ext cx="4507992" cy="1554480"/>
          </a:xfrm>
          <a:prstGeom prst="roundRect">
            <a:avLst/>
          </a:prstGeom>
          <a:solidFill>
            <a:srgbClr val="172135"/>
          </a:solidFill>
          <a:ln w="15240">
            <a:solidFill>
              <a:srgbClr val="25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77456" y="1600200"/>
            <a:ext cx="4251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GLOBAL HTTPS CLOUDFLARE TUNNEL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Live Worldwide Link: https://red-avi-object-email.trycloudflare.com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Zero-Barrier Access: No firewall port forwarding or public IP exposure.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Interactive Threat Injection: Trigger live SYN floods &amp; C2 beacon pulses.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200400"/>
            <a:ext cx="4507992" cy="1554480"/>
          </a:xfrm>
          <a:prstGeom prst="roundRect">
            <a:avLst/>
          </a:prstGeom>
          <a:solidFill>
            <a:srgbClr val="172135"/>
          </a:solidFill>
          <a:ln w="15240">
            <a:solidFill>
              <a:srgbClr val="25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3291840"/>
            <a:ext cx="4251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3B82F6"/>
                </a:solidFill>
              </a:defRPr>
            </a:pPr>
            <a:r>
              <a:t>PERMANENT EDGE WEB (GITHUB PAGES)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Permanent 24/7 Hosting: https://saicharan-nayak.github.io/unidirectional-threat-engine/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Autonomous Dual-Mode: Seamless WebSocket or client simulation fallback.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Automated CI/CD: Deployed automatically via GitHub Actions on push.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4892040"/>
            <a:ext cx="4507992" cy="1600200"/>
          </a:xfrm>
          <a:prstGeom prst="roundRect">
            <a:avLst/>
          </a:prstGeom>
          <a:solidFill>
            <a:srgbClr val="172135"/>
          </a:solidFill>
          <a:ln w="15240">
            <a:solidFill>
              <a:srgbClr val="25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77456" y="4983480"/>
            <a:ext cx="4251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59E0B"/>
                </a:solidFill>
              </a:defRPr>
            </a:pPr>
            <a:r>
              <a:t>ANDROID STUDIO APP &amp; SIEM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Native Android App: android_studio_app/ WebView wrapper with touch HUD.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One-Click Launcher: Open_In_Android_Studio.bat auto-detects active IDE.</a:t>
            </a:r>
          </a:p>
          <a:p>
            <a:pPr>
              <a:spcAft>
                <a:spcPts val="300"/>
              </a:spcAft>
              <a:defRPr sz="1000">
                <a:solidFill>
                  <a:srgbClr val="F3F4F6"/>
                </a:solidFill>
              </a:defRPr>
            </a:pPr>
            <a:r>
              <a:t>• SIEM Integrations: Background worker exporting ArcSight CEF and Syslog.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