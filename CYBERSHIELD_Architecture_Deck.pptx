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2926080" cy="347472"/>
          </a:xfrm>
          <a:prstGeom prst="roundRect">
            <a:avLst/>
          </a:prstGeom>
          <a:solidFill>
            <a:srgbClr val="111827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E5FF"/>
                </a:solidFill>
              </a:defRPr>
            </a:pPr>
            <a:r>
              <a:t>AIR-GAPPED DATA DIODE ENCLAVE v2.4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3F4F6"/>
                </a:solidFill>
              </a:defRPr>
            </a:pPr>
            <a:r>
              <a:t>CYBERSHIELD</a:t>
            </a:r>
          </a:p>
          <a:p>
            <a:pPr>
              <a:defRPr sz="2000" b="1">
                <a:solidFill>
                  <a:srgbClr val="00E5FF"/>
                </a:solidFill>
              </a:defRPr>
            </a:pPr>
            <a:r>
              <a:t>Unidirectional Threat Detection Engine &amp; Enterprise Web SOC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High-performance passive cyber threat attribution operating over physical data diodes at 50,000+ packets/sec. Engineered with 16-shard zero-contention partitioning, statistical AI anomaly detection, and automated containment.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4720"/>
            <a:ext cx="2542032" cy="2743200"/>
          </a:xfrm>
          <a:prstGeom prst="roundRect">
            <a:avLst/>
          </a:prstGeom>
          <a:solidFill>
            <a:srgbClr val="172135"/>
          </a:solidFill>
          <a:ln w="15240">
            <a:solidFill>
              <a:srgbClr val="25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584448"/>
            <a:ext cx="2267712" cy="2523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0E5FF"/>
                </a:solidFill>
              </a:defRPr>
            </a:pPr>
            <a:r>
              <a:t>OPTICAL DIODE ISOLATION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Physical Tx Disabled (Rx = 1)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Mathematical stealth guarantee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Zero backchannel exploitation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Air-gapped boundary defense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7288" y="3474720"/>
            <a:ext cx="2542032" cy="2743200"/>
          </a:xfrm>
          <a:prstGeom prst="roundRect">
            <a:avLst/>
          </a:prstGeom>
          <a:solidFill>
            <a:srgbClr val="172135"/>
          </a:solidFill>
          <a:ln w="15240">
            <a:solidFill>
              <a:srgbClr val="25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84448" y="3584448"/>
            <a:ext cx="2267712" cy="2523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16-SHARD HASH PARTITIONING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50,000+ pps sustained ingress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Lock-free micro-batch routing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Zero-allocation __slots__ memory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Sub-110ms sliding window SLA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3474720"/>
            <a:ext cx="2542032" cy="2743200"/>
          </a:xfrm>
          <a:prstGeom prst="roundRect">
            <a:avLst/>
          </a:prstGeom>
          <a:solidFill>
            <a:srgbClr val="172135"/>
          </a:solidFill>
          <a:ln w="15240">
            <a:solidFill>
              <a:srgbClr val="25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216" y="3584448"/>
            <a:ext cx="2267712" cy="2523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59E0B"/>
                </a:solidFill>
              </a:defRPr>
            </a:pPr>
            <a:r>
              <a:t>AUTONOMOUS AI &amp; MITRE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14 enterprise tactics mapped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C2 beacon detection (CV &lt; 0.15)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Fast Shannon entropy (&gt;3.65)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Dynamic multi-firewall synthesis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78824" y="3474720"/>
            <a:ext cx="2542032" cy="2743200"/>
          </a:xfrm>
          <a:prstGeom prst="roundRect">
            <a:avLst/>
          </a:prstGeom>
          <a:solidFill>
            <a:srgbClr val="172135"/>
          </a:solidFill>
          <a:ln w="15240">
            <a:solidFill>
              <a:srgbClr val="25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15984" y="3584448"/>
            <a:ext cx="2267712" cy="2523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MULTI-PLATFORM SOC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Real-time WebSocket stream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Live Cloudflare HTTPS tunnel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Permanent 24/7 GitHub Pages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Native Android Studio WebView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E5FF"/>
                </a:solidFill>
              </a:defRPr>
            </a:pPr>
            <a:r>
              <a:t>CORE ARCHITECTURE &amp; INGESTION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3F4F6"/>
                </a:solidFill>
              </a:defRPr>
            </a:pPr>
            <a:r>
              <a:t>16-Shard Hash Partitioning &amp; High-Throughput Stream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Hardware optical diode isolation feeding micro-batched, lock-partitioned analytical queues.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2011680" cy="12801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1. PHYSICAL INGRESS</a:t>
            </a:r>
          </a:p>
          <a:p>
            <a:pPr algn="ctr">
              <a:defRPr sz="950">
                <a:solidFill>
                  <a:srgbClr val="F3F4F6"/>
                </a:solidFill>
              </a:defRPr>
            </a:pPr>
            <a:r>
              <a:t>Network TAP / SPAN</a:t>
            </a:r>
            <a:br/>
            <a:r>
              <a:t>Optical Fiber Diode</a:t>
            </a:r>
            <a:br/>
            <a:r>
              <a:t>Tx = 0 / Rx = 1 Only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779776" y="2194560"/>
            <a:ext cx="109728" cy="228600"/>
          </a:xfrm>
          <a:prstGeom prst="rightArrow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26080" y="1691640"/>
            <a:ext cx="2011680" cy="12801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B82F6"/>
                </a:solidFill>
              </a:defRPr>
            </a:pPr>
            <a:r>
              <a:t>2. BINARY PARSER</a:t>
            </a:r>
          </a:p>
          <a:p>
            <a:pPr algn="ctr">
              <a:defRPr sz="950">
                <a:solidFill>
                  <a:srgbClr val="F3F4F6"/>
                </a:solidFill>
              </a:defRPr>
            </a:pPr>
            <a:r>
              <a:t>Zero-Copy PCAP Unpack</a:t>
            </a:r>
            <a:br/>
            <a:r>
              <a:t>IPv4 / IPv6 Header</a:t>
            </a:r>
            <a:br/>
            <a:r>
              <a:t>TCP Flags &amp; Raw UDP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74336" y="2194560"/>
            <a:ext cx="109728" cy="228600"/>
          </a:xfrm>
          <a:prstGeom prst="rightArrow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0" y="1691640"/>
            <a:ext cx="2011680" cy="12801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3. MICRO-BATCHING</a:t>
            </a:r>
          </a:p>
          <a:p>
            <a:pPr algn="ctr">
              <a:defRPr sz="950">
                <a:solidFill>
                  <a:srgbClr val="F3F4F6"/>
                </a:solidFill>
              </a:defRPr>
            </a:pPr>
            <a:r>
              <a:t>Batch Size: 250 pkts</a:t>
            </a:r>
            <a:br/>
            <a:r>
              <a:t>Hash Routing Function:</a:t>
            </a:r>
            <a:br/>
            <a:r>
              <a:t>(hash(src) &amp; 0x7F) % 16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68896" y="2194560"/>
            <a:ext cx="109728" cy="228600"/>
          </a:xfrm>
          <a:prstGeom prst="rightArrow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0" y="1691640"/>
            <a:ext cx="2011680" cy="12801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4. 16 SHARD CORES</a:t>
            </a:r>
          </a:p>
          <a:p>
            <a:pPr algn="ctr">
              <a:defRPr sz="950">
                <a:solidFill>
                  <a:srgbClr val="F3F4F6"/>
                </a:solidFill>
              </a:defRPr>
            </a:pPr>
            <a:r>
              <a:t>16 Independent Locks</a:t>
            </a:r>
            <a:br/>
            <a:r>
              <a:t>Ring Buffers (maxlen=250)</a:t>
            </a:r>
            <a:br/>
            <a:r>
              <a:t>Zero Global Contention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63456" y="2194560"/>
            <a:ext cx="109728" cy="228600"/>
          </a:xfrm>
          <a:prstGeom prst="rightArrow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09760" y="1691640"/>
            <a:ext cx="2011680" cy="12801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5. ROLLING PRUNER</a:t>
            </a:r>
          </a:p>
          <a:p>
            <a:pPr algn="ctr">
              <a:defRPr sz="950">
                <a:solidFill>
                  <a:srgbClr val="F3F4F6"/>
                </a:solidFill>
              </a:defRPr>
            </a:pPr>
            <a:r>
              <a:t>3.0s Sliding Window</a:t>
            </a:r>
            <a:br/>
            <a:r>
              <a:t>O(1) Popleft Eviction</a:t>
            </a:r>
            <a:br/>
            <a:r>
              <a:t>Sub-110ms Triage Loop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46120"/>
            <a:ext cx="3429000" cy="3108960"/>
          </a:xfrm>
          <a:prstGeom prst="roundRect">
            <a:avLst/>
          </a:prstGeom>
          <a:solidFill>
            <a:srgbClr val="172135"/>
          </a:solidFill>
          <a:ln w="15240">
            <a:solidFill>
              <a:srgbClr val="25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355848"/>
            <a:ext cx="3154680" cy="2889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0E5FF"/>
                </a:solidFill>
              </a:defRPr>
            </a:pPr>
            <a:r>
              <a:t>ZERO-CONTENTION CONCURRENCY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Lock Partitioning: Divides state into 16 discrete EnclaveShard instances.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Lock Amortization: Groups micro-batches by target shard prior to acquisition, reducing lock requests from O(B) to O(16).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Benchmarked Throughput: Sustained 25,000–50,000+ pps on commodity CPU cores without dropped frames.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0832" y="3246120"/>
            <a:ext cx="3429000" cy="3108960"/>
          </a:xfrm>
          <a:prstGeom prst="roundRect">
            <a:avLst/>
          </a:prstGeom>
          <a:solidFill>
            <a:srgbClr val="172135"/>
          </a:solidFill>
          <a:ln w="15240">
            <a:solidFill>
              <a:srgbClr val="25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7992" y="3355848"/>
            <a:ext cx="3154680" cy="2889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LOW-ALLOCATION MEMORY MODEL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Python __slots__ Optimization: Structs PacketMetadata and ThreatAlert eliminate dynamic dictionary overhead.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Bounded Deques: In-memory sliding windows (maxlen=250) prevent memory leaks under multi-million packet surges.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Zero Garbage Collection Spikes: Predictable sub-millisecond execution SLAs.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3246120"/>
            <a:ext cx="3429000" cy="3108960"/>
          </a:xfrm>
          <a:prstGeom prst="roundRect">
            <a:avLst/>
          </a:prstGeom>
          <a:solidFill>
            <a:srgbClr val="172135"/>
          </a:solidFill>
          <a:ln w="15240">
            <a:solidFill>
              <a:srgbClr val="25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47304" y="3355848"/>
            <a:ext cx="3154680" cy="2889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UNIDIRECTIONAL DIODE GUARANTEE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Physical Optical TAP: Monitored interface laser transmitter physically cut; receive fiber strictly isolated.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Passive Packet Dissection: Zero TCP RST or ICMP responses emitted back onto the customer network.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Complete Stealth: Adversaries cannot detect or target the monitoring sensor enclave.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E5FF"/>
                </a:solidFill>
              </a:defRPr>
            </a:pPr>
            <a:r>
              <a:t>ANALYTICAL CORE &amp; MATHEMATICAL FORMULATIONS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3F4F6"/>
                </a:solidFill>
              </a:defRPr>
            </a:pPr>
            <a:r>
              <a:t>Algorithmic Threat Detection: Statistical, Entropy &amp; Fingerprinting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Deterministic models operating in parallel across sliding windows for precision threat attribution.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30368" cy="2331720"/>
          </a:xfrm>
          <a:prstGeom prst="roundRect">
            <a:avLst/>
          </a:prstGeom>
          <a:solidFill>
            <a:srgbClr val="172135"/>
          </a:solidFill>
          <a:ln w="15240">
            <a:solidFill>
              <a:srgbClr val="25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55648"/>
            <a:ext cx="4956048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59E0B"/>
                </a:solidFill>
              </a:defRPr>
            </a:pPr>
            <a:r>
              <a:t>1. BOTNET C2 BEACONING (INTER-ARRIVAL TIME &amp; CV)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Theory: Automated implants maintain rhythmic callbacks; human traffic is chaotic.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Formula: CV = σ / μ  (where μ = mean interval, σ = standard deviation of arrival deltas).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Detection Threshold: CV &lt; 0.15 indicates automated heartbeat periodicity (Cobalt Strike / Sliver).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Confidence Model: Score = min(0.99, 1.0 - CV).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30368" cy="2331720"/>
          </a:xfrm>
          <a:prstGeom prst="roundRect">
            <a:avLst/>
          </a:prstGeom>
          <a:solidFill>
            <a:srgbClr val="172135"/>
          </a:solidFill>
          <a:ln w="15240">
            <a:solidFill>
              <a:srgbClr val="25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55648"/>
            <a:ext cx="4956048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4757"/>
                </a:solidFill>
              </a:defRPr>
            </a:pPr>
            <a:r>
              <a:t>2. DNS TUNNELING &amp; DGA EXFILTRATION (SHANNON ENTROPY)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Theory: Base32/64 exfiltration and algorithmically generated domains exhibit high entropy.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Formula: H(X) = log2(L) - (1/L) * Σ count(c) * log2(count(c)).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Hardware Acceleration: Accelerated via pre-computed _LOG2_CACHE[k] lookup table (O(N)).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Detection Boundary: H(X) &gt; 3.65 indicates encoded data tunneling or DGA rendezvous.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5230368" cy="2331720"/>
          </a:xfrm>
          <a:prstGeom prst="roundRect">
            <a:avLst/>
          </a:prstGeom>
          <a:solidFill>
            <a:srgbClr val="172135"/>
          </a:solidFill>
          <a:ln w="15240">
            <a:solidFill>
              <a:srgbClr val="25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270248"/>
            <a:ext cx="4956048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0E5FF"/>
                </a:solidFill>
              </a:defRPr>
            </a:pPr>
            <a:r>
              <a:t>3. JA4 TLS CLIENT FINGERPRINTING (RFC 8701)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Theory: Identifies offensive C2 frameworks (Cobalt Strike, Meterpreter) over HTTPS.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RFC 8701 GREASE Stripping: Bitmask (val &amp; 0x0F0F) == 0x0A0A eliminates browser noise.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Canonical String: JA4_A (Proto_Ver_SNI_Ciphers_ALPN) + JA4_B (Cipher SHA-256) + JA4_C (Ext SHA-256).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Example: t13d1516h2_8daaf6152771_be40b441a884 matches Cobalt Strike Malleable C2 profile.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60520"/>
            <a:ext cx="5230368" cy="2331720"/>
          </a:xfrm>
          <a:prstGeom prst="roundRect">
            <a:avLst/>
          </a:prstGeom>
          <a:solidFill>
            <a:srgbClr val="172135"/>
          </a:solidFill>
          <a:ln w="15240">
            <a:solidFill>
              <a:srgbClr val="25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270248"/>
            <a:ext cx="4956048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4. VOLUMETRIC SYN FLOOD &amp; PORT RECON SCAN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Volumetric Inundation: Multi-shard destination aggregation; &gt;75% SYN ratio triggers instant P0 alert.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Port Reconnaissance Fanout: Cardinality tracking across (src_ip -&gt; {dst_port}) in 3.0s window.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Dynamic Cardinality: Distinct ports &gt;25 or targets &gt;15 triggers horizontal/vertical scan alert.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Jitter Engine: Sub-second non-uniform timestamps eliminate artificial, robotic clock patterns.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E5FF"/>
                </a:solidFill>
              </a:defRPr>
            </a:pPr>
            <a:r>
              <a:t>AUTONOMOUS AI SECURITY &amp; CONTAINMENT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3F4F6"/>
                </a:solidFill>
              </a:defRPr>
            </a:pPr>
            <a:r>
              <a:t>MITRE ATT&amp;CK Enterprise Matrix &amp; Automated Firewall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Deterministic correlation, blast radius modeling, and instant multi-platform rule generation.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29000" cy="4709160"/>
          </a:xfrm>
          <a:prstGeom prst="roundRect">
            <a:avLst/>
          </a:prstGeom>
          <a:solidFill>
            <a:srgbClr val="172135"/>
          </a:solidFill>
          <a:ln w="15240">
            <a:solidFill>
              <a:srgbClr val="25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55648"/>
            <a:ext cx="3154680" cy="4489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0E5FF"/>
                </a:solidFill>
              </a:defRPr>
            </a:pPr>
            <a:r>
              <a:t>MITRE ATT&amp;CK ENCLAVE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14 Enterprise Tactics Mapped: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- Reconnaissance (TA0043)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- Initial Access (TA0001)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- Execution (TA0002)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- Defense Evasion (TA0005)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- Credential Access (TA0006)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- Discovery (TA0007)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- Command &amp; Control (TA0011)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- Exfiltration (TA0010)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- Impact (TA0040)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Automated Technique Binding: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- T1498.001 (SYN Flood Exhaustion)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- T1071.001 (Web C2 Beaconing)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- T1046 (Port Recon Discovery)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- T1568.002 (Domain Generation DGA)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- T1573.002 (Asymmetric TLS C2)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Threat Actor Attribution: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Direct mapping to APT28, Mirai, Cobalt Strike, and LockBit affiliates.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645920"/>
            <a:ext cx="3429000" cy="4709160"/>
          </a:xfrm>
          <a:prstGeom prst="roundRect">
            <a:avLst/>
          </a:prstGeom>
          <a:solidFill>
            <a:srgbClr val="172135"/>
          </a:solidFill>
          <a:ln w="15240">
            <a:solidFill>
              <a:srgbClr val="25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1755648"/>
            <a:ext cx="3154680" cy="4489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59E0B"/>
                </a:solidFill>
              </a:defRPr>
            </a:pPr>
            <a:r>
              <a:t>BLAST RADIUS &amp; PLAYBOOKS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Topology-Aware Risk Scoring: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Evaluates target host sensitivity (Domain Controller, Database, Workstation).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Lateral Movement Modeling: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Calculates probability of attacker pivot across subnet boundaries.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Step-by-Step Playbook Generation: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- Step 1 (P0): Kernel SYN cookies / Host Isolation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- Step 2 (P1): Perimeter IP Drop / Route Blackhole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- Step 3 (P2): EDR memory dump &amp; Kerberos token revocation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Cryptographic Merkle Audit Log: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Sequential SHA-256 hash-chaining prevents retroactive tampering of forensic logs.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Optional LLM Reasoning Hook: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Native support for Google Gemini API for natural language threat explanation.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1645920"/>
            <a:ext cx="3429000" cy="4709160"/>
          </a:xfrm>
          <a:prstGeom prst="roundRect">
            <a:avLst/>
          </a:prstGeom>
          <a:solidFill>
            <a:srgbClr val="172135"/>
          </a:solidFill>
          <a:ln w="15240">
            <a:solidFill>
              <a:srgbClr val="25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47304" y="1755648"/>
            <a:ext cx="3154680" cy="4489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DYNAMIC RULE SYNTHESIS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Instant translation of alerts into 5 production-grade defense formats: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1. Linux IPTables: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 iptables -A INPUT -p tcp --dport 443 -m hashlimit --hashlimit-above 50/sec -j DROP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2. Linux NFTables: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 table inet filter { chain input { tcp flags syn meter syn-meter { ip saddr limit rate over 50/sec } drop } }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3. Suricata IDS Rule: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 alert tcp any any -&gt; $DST $PORT (msg:"CYBERSHIELD SYN Flood"; flags:S; threshold:count 100, seconds 2; sid:2000001;)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4. Snort 3 Network Rule: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 drop tcp any any -&gt; $DST $PORT (detection_filter:track by_dst, count 100, seconds 2; sid:3000001;)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5. pfSense / OPNsense CLI: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   pfsense-cli block host &lt;ATTACKER_IP&gt;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E5FF"/>
                </a:solidFill>
              </a:defRPr>
            </a:pPr>
            <a:r>
              <a:t>ENTERPRISE OPERATIONS &amp; GLOBAL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3F4F6"/>
                </a:solidFill>
              </a:defRPr>
            </a:pPr>
            <a:r>
              <a:t>Web SOC Operations Console &amp; Multi-Platform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Accessible globally over HTTPS, permanent edge hosting, and native Android Studio integration.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30368" cy="2331720"/>
          </a:xfrm>
          <a:prstGeom prst="roundRect">
            <a:avLst/>
          </a:prstGeom>
          <a:solidFill>
            <a:srgbClr val="172135"/>
          </a:solidFill>
          <a:ln w="15240">
            <a:solidFill>
              <a:srgbClr val="25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55648"/>
            <a:ext cx="4956048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0E5FF"/>
                </a:solidFill>
              </a:defRPr>
            </a:pPr>
            <a:r>
              <a:t>ENTERPRISE WEB SOC CONSOLE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Authentic Cyber Atmosphere: Dark obsidian UI, glassmorphic panels, and DEFCON status badge.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Non-Uniform Time Interleaving: Millisecond jitter timestamps break artificial looping patterns.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Corporate Asset Attribution: Maps raw IPs to enterprise DNS hostnames (wkst-*.corp, ad-dc01.corp).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Real-Time Threat Radar: SVG canvas visualizing live network ingress and fanout connections.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30368" cy="2331720"/>
          </a:xfrm>
          <a:prstGeom prst="roundRect">
            <a:avLst/>
          </a:prstGeom>
          <a:solidFill>
            <a:srgbClr val="172135"/>
          </a:solidFill>
          <a:ln w="15240">
            <a:solidFill>
              <a:srgbClr val="25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55648"/>
            <a:ext cx="4956048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GLOBAL HTTPS CLOUDFLARE TUNNEL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Worldwide Live URL: https://red-avi-object-email.trycloudflare.com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Zero-Barrier Access: No firewall port forwarding or public IP exposure required.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Real-Time Bi-Directional WebSocket: Sub-millisecond telemetry stream direct to any device.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Interactive Threat Injection: Trigger live SYN floods, C2 beacon pulses, and port recon scans.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5230368" cy="2331720"/>
          </a:xfrm>
          <a:prstGeom prst="roundRect">
            <a:avLst/>
          </a:prstGeom>
          <a:solidFill>
            <a:srgbClr val="172135"/>
          </a:solidFill>
          <a:ln w="15240">
            <a:solidFill>
              <a:srgbClr val="25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270248"/>
            <a:ext cx="4956048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B82F6"/>
                </a:solidFill>
              </a:defRPr>
            </a:pPr>
            <a:r>
              <a:t>PERMANENT EDGE WEB (GITHUB PAGES)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Permanent 24/7 Hosting: https://saicharan-nayak.github.io/unidirectional-threat-engine/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Autonomous Dual-Mode: Automatically connects to live backend WebSocket if online.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Zero-Server Fallback: Auto-engages high-fidelity client-side simulation engine if offline.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Automated CI/CD: Deployed automatically via .github/workflows/deploy-pages.yml on push.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60520"/>
            <a:ext cx="5230368" cy="2331720"/>
          </a:xfrm>
          <a:prstGeom prst="roundRect">
            <a:avLst/>
          </a:prstGeom>
          <a:solidFill>
            <a:srgbClr val="172135"/>
          </a:solidFill>
          <a:ln w="15240">
            <a:solidFill>
              <a:srgbClr val="253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270248"/>
            <a:ext cx="4956048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59E0B"/>
                </a:solidFill>
              </a:defRPr>
            </a:pPr>
            <a:r>
              <a:t>ANDROID STUDIO NATIVE APP &amp; REPO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Android Studio Project: android_studio_app/ native WebView wrapper with full touch controls.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One-Click Launcher: Open_In_Android_Studio.bat auto-detects active Android Studio executable.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SIEM Integrations: Background worker exporting ArcSight CEF, RFC 5424 Syslog, and Webhooks.</a:t>
            </a:r>
          </a:p>
          <a:p>
            <a:pPr>
              <a:spcAft>
                <a:spcPts val="400"/>
              </a:spcAft>
              <a:defRPr sz="1100">
                <a:solidFill>
                  <a:srgbClr val="F3F4F6"/>
                </a:solidFill>
              </a:defRPr>
            </a:pPr>
            <a:r>
              <a:t>• Open Source GitHub Repo: SAICHARAN-NAYAK/unidirectional-threat-engine (main branch).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